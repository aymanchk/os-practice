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дача" id="{3b59204e-2960-5926-5310-010640071ead}">
          <p14:sldIdLst>
            <p14:sldId id="256"/>
          </p14:sldIdLst>
        </p14:section>
        <p14:section name="Блок A" id="{67011251-f7cf-3f3e-32db-b54efff60a63}">
          <p14:sldIdLst>
            <p14:sldId id="257"/>
          </p14:sldIdLst>
        </p14:section>
        <p14:section name="Блок B" id="{40c45eaf-800f-89a3-c6d2-f8ee5681d350}">
          <p14:sldIdLst>
            <p14:sldId id="258"/>
          </p14:sldIdLst>
        </p14:section>
        <p14:section name="Блок C" id="{97818121-3782-9b44-ee7a-15f09a3c49ff}">
          <p14:sldIdLst>
            <p14:sldId id="259"/>
          </p14:sldIdLst>
        </p14:section>
        <p14:section name="Итог" id="{15c0bf28-b2ef-0c45-4a28-d61bb9aa036d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Мой проект: планировщик для сервера колледжа. Студенты запускают на сервере и долгие расчёты, и короткие запросы. Заказчик хочет, чтобы короткие не ждали за длинными, а длинные всё равно заканчивались. Я написал 7 алгоритмов и сделал все три блока.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 A. Сначала я посчитал FCFS для jobs.txt, программа дала те же числа: среднее ожидание 7,5. Потом сравнил три алгоритма. Лучший SJF, ожидание 5,17, потому что он пускает короткие задачи вперёд. Код я проверил на наборе из ПР-5: все 5 алгоритмов совпали с эталоном.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 B. На смешанном наборе FCFS хуже всех: короткий запрос ждёт больше 100 единиц. SRTF и Priority по числам лучше, но SRTF должен заранее знать длительность задачи, а Priority может морить задачи голодом. Поэтому из пяти я выбрал Round Robin. Квант 2: с квантом 1 переключений почти в 2 раза больше, а с квантом 4 короткие ждут дольше.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 C. В обычном Priority процесс P1 с низким приоритетом ждал 57 единиц, потому что всё время приходили важные задачи. Это голодание. Я добавил старение: пока процесс ждёт, его приоритет растёт. P1 стартовал в 36, на 21 раньше. Потом сделал MLFQ: у него лучший отклик, 0,28, и короткие ждут в 3 раза меньше, чем в Round Robin.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заказчику я советую MLFQ. Ему не нужно знать длительность задач: каждая задача сначала наверху, короткая успевает закончить, а длинная сама опускается вниз. Раз в 50 единиц boost поднимает всех наверх, поэтому длинные не голодают. Если нужно попроще, подойдёт Round Robin с квантом 2. Всё запускается одной командой. Спасибо,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200" kern="0" dirty="0">
                <a:solidFill>
                  <a:srgbClr val="D9773A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18872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4F2EC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A84E14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D9773A"/>
                </a:solidFill>
              </a:rPr>
              <a:t>МОДУЛЬ 1 · ПРОЕКТ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18872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F2EC"/>
                </a:solidFill>
              </a:rPr>
              <a:t>Планировщик учебного сервера</a:t>
            </a:r>
            <a:endParaRPr lang="en-US" sz="4800" dirty="0"/>
          </a:p>
        </p:txBody>
      </p:sp>
      <p:sp>
        <p:nvSpPr>
          <p:cNvPr id="4" name="Задача"/>
          <p:cNvSpPr txBox="1"/>
          <p:nvPr/>
        </p:nvSpPr>
        <p:spPr>
          <a:xfrm>
            <a:off x="731520" y="33832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короткие запросы студентов не должны ждать за долгими расчётами, а долгие расчёты всё равно должны завершаться.</a:t>
            </a:r>
            <a:endParaRPr lang="en-US" sz="2200" dirty="0"/>
          </a:p>
        </p:txBody>
      </p:sp>
      <p:sp>
        <p:nvSpPr>
          <p:cNvPr id="5" name="Подпись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Эркинбеков Айман  ·  7 алгоритмов  ·  блоки A, B, C  ·  запуск: ./modul1/run.sh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A84E14"/>
                </a:solidFill>
              </a:rPr>
              <a:t>БЛОК A · JOBS.TXT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FCFS, SJF и RR</a:t>
            </a:r>
            <a:endParaRPr lang="en-US" sz="3600" dirty="0"/>
          </a:p>
        </p:txBody>
      </p:sp>
      <p:sp>
        <p:nvSpPr>
          <p:cNvPr id="4" name="Подпись Ганта"/>
          <p:cNvSpPr txBox="1"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Ганта FCFS</a:t>
            </a:r>
            <a:endParaRPr lang="en-US" sz="1400" dirty="0"/>
          </a:p>
        </p:txBody>
      </p:sp>
      <p:sp>
        <p:nvSpPr>
          <p:cNvPr id="5" name="t0"/>
          <p:cNvSpPr txBox="1"/>
          <p:nvPr/>
        </p:nvSpPr>
        <p:spPr>
          <a:xfrm>
            <a:off x="54864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Ганта P1"/>
          <p:cNvSpPr/>
          <p:nvPr/>
        </p:nvSpPr>
        <p:spPr>
          <a:xfrm>
            <a:off x="640080" y="2057400"/>
            <a:ext cx="3311718" cy="594360"/>
          </a:xfrm>
          <a:prstGeom prst="rect">
            <a:avLst/>
          </a:prstGeom>
          <a:solidFill>
            <a:srgbClr val="3A6EA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P1</a:t>
            </a:r>
            <a:endParaRPr lang="en-US" sz="1600" dirty="0"/>
          </a:p>
        </p:txBody>
      </p:sp>
      <p:sp>
        <p:nvSpPr>
          <p:cNvPr id="7" name="t7"/>
          <p:cNvSpPr txBox="1"/>
          <p:nvPr/>
        </p:nvSpPr>
        <p:spPr>
          <a:xfrm>
            <a:off x="3768918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Ганта P2"/>
          <p:cNvSpPr/>
          <p:nvPr/>
        </p:nvSpPr>
        <p:spPr>
          <a:xfrm>
            <a:off x="3951798" y="2057400"/>
            <a:ext cx="1892410" cy="594360"/>
          </a:xfrm>
          <a:prstGeom prst="rect">
            <a:avLst/>
          </a:prstGeom>
          <a:solidFill>
            <a:srgbClr val="D9773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P2</a:t>
            </a:r>
            <a:endParaRPr lang="en-US" sz="1600" dirty="0"/>
          </a:p>
        </p:txBody>
      </p:sp>
      <p:sp>
        <p:nvSpPr>
          <p:cNvPr id="9" name="t11"/>
          <p:cNvSpPr txBox="1"/>
          <p:nvPr/>
        </p:nvSpPr>
        <p:spPr>
          <a:xfrm>
            <a:off x="5661329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10" name="Ганта P3"/>
          <p:cNvSpPr/>
          <p:nvPr/>
        </p:nvSpPr>
        <p:spPr>
          <a:xfrm>
            <a:off x="5844209" y="2057400"/>
            <a:ext cx="473103" cy="594360"/>
          </a:xfrm>
          <a:prstGeom prst="rect">
            <a:avLst/>
          </a:prstGeom>
          <a:solidFill>
            <a:srgbClr val="B84A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P3</a:t>
            </a:r>
            <a:endParaRPr lang="en-US" sz="1600" dirty="0"/>
          </a:p>
        </p:txBody>
      </p:sp>
      <p:sp>
        <p:nvSpPr>
          <p:cNvPr id="11" name="t12"/>
          <p:cNvSpPr txBox="1"/>
          <p:nvPr/>
        </p:nvSpPr>
        <p:spPr>
          <a:xfrm>
            <a:off x="6134431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12" name="Ганта P4"/>
          <p:cNvSpPr/>
          <p:nvPr/>
        </p:nvSpPr>
        <p:spPr>
          <a:xfrm>
            <a:off x="6317311" y="2057400"/>
            <a:ext cx="2838616" cy="594360"/>
          </a:xfrm>
          <a:prstGeom prst="rect">
            <a:avLst/>
          </a:prstGeom>
          <a:solidFill>
            <a:srgbClr val="3F8C8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P4</a:t>
            </a:r>
            <a:endParaRPr lang="en-US" sz="1600" dirty="0"/>
          </a:p>
        </p:txBody>
      </p:sp>
      <p:sp>
        <p:nvSpPr>
          <p:cNvPr id="13" name="t18"/>
          <p:cNvSpPr txBox="1"/>
          <p:nvPr/>
        </p:nvSpPr>
        <p:spPr>
          <a:xfrm>
            <a:off x="8973047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14" name="Ганта P5"/>
          <p:cNvSpPr/>
          <p:nvPr/>
        </p:nvSpPr>
        <p:spPr>
          <a:xfrm>
            <a:off x="9155927" y="2057400"/>
            <a:ext cx="1419308" cy="594360"/>
          </a:xfrm>
          <a:prstGeom prst="rect">
            <a:avLst/>
          </a:prstGeom>
          <a:solidFill>
            <a:srgbClr val="5E8B3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P5</a:t>
            </a:r>
            <a:endParaRPr lang="en-US" sz="1600" dirty="0"/>
          </a:p>
        </p:txBody>
      </p:sp>
      <p:sp>
        <p:nvSpPr>
          <p:cNvPr id="15" name="t21"/>
          <p:cNvSpPr txBox="1"/>
          <p:nvPr/>
        </p:nvSpPr>
        <p:spPr>
          <a:xfrm>
            <a:off x="10392355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16" name="Ганта P6"/>
          <p:cNvSpPr/>
          <p:nvPr/>
        </p:nvSpPr>
        <p:spPr>
          <a:xfrm>
            <a:off x="10575235" y="2057400"/>
            <a:ext cx="946205" cy="594360"/>
          </a:xfrm>
          <a:prstGeom prst="rect">
            <a:avLst/>
          </a:prstGeom>
          <a:solidFill>
            <a:srgbClr val="8A6BA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P6</a:t>
            </a:r>
            <a:endParaRPr lang="en-US" sz="1600" dirty="0"/>
          </a:p>
        </p:txBody>
      </p:sp>
      <p:sp>
        <p:nvSpPr>
          <p:cNvPr id="17" name="t23"/>
          <p:cNvSpPr txBox="1"/>
          <p:nvPr/>
        </p:nvSpPr>
        <p:spPr>
          <a:xfrm>
            <a:off x="1133856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graphicFrame>
        <p:nvGraphicFramePr>
          <p:cNvPr id="3" name="Таблица 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91840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1920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B7280"/>
                          </a:solidFill>
                        </a:rPr>
                        <a:t>Алгоритм</a:t>
                      </a:r>
                      <a:endParaRPr lang="en-US" sz="16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6B7280"/>
                          </a:solidFill>
                        </a:rPr>
                        <a:t>Ср. ожидание</a:t>
                      </a:r>
                      <a:endParaRPr lang="en-US" sz="16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6B7280"/>
                          </a:solidFill>
                        </a:rPr>
                        <a:t>Ср. оборот</a:t>
                      </a:r>
                      <a:endParaRPr lang="en-US" sz="16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FCFS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7,5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11,33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430"/>
                          </a:solidFill>
                        </a:rPr>
                        <a:t>SJF, лучший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1B2430"/>
                          </a:solidFill>
                        </a:rPr>
                        <a:t>5,17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1B2430"/>
                          </a:solidFill>
                        </a:rPr>
                        <a:t>9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C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RR q=2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8,33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12,17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Вывод A"/>
          <p:cNvSpPr txBox="1"/>
          <p:nvPr/>
        </p:nvSpPr>
        <p:spPr>
          <a:xfrm>
            <a:off x="7772400" y="33832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SJF пускает вперёд короткие P3 и P6.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F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set1.txt: 5 из 5 совпали с эталоном ПР-5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A84E14"/>
                </a:solidFill>
              </a:rPr>
              <a:t>БЛОК B · MIXED.TXT: 3 ДЛИННЫХ И 15 КОРОТКИХ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Пять алгоритмов и выбор кванта</a:t>
            </a:r>
            <a:endParaRPr lang="en-US" sz="3600" dirty="0"/>
          </a:p>
        </p:txBody>
      </p:sp>
      <p:graphicFrame>
        <p:nvGraphicFramePr>
          <p:cNvPr id="4" name="Таблица 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B7280"/>
                          </a:solidFill>
                        </a:rPr>
                        <a:t>Алгоритм</a:t>
                      </a:r>
                      <a:endParaRPr lang="en-US" sz="16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6B7280"/>
                          </a:solidFill>
                        </a:rPr>
                        <a:t>Ждут короткие</a:t>
                      </a:r>
                      <a:endParaRPr lang="en-US" sz="16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B7280"/>
                          </a:solidFill>
                        </a:rPr>
                        <a:t>Минус</a:t>
                      </a:r>
                      <a:endParaRPr lang="en-US" sz="16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FCFS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104,67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стоят за длинными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SJF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27,27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нет вытеснения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430"/>
                          </a:solidFill>
                        </a:rPr>
                        <a:t>RR q=2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1B2430"/>
                          </a:solidFill>
                        </a:rPr>
                        <a:t>15,87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C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430"/>
                          </a:solidFill>
                        </a:rPr>
                        <a:t>много переключений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C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SRTF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0,47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надо знать длительность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Priority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0,53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</a:rPr>
                        <a:t>голодание</a:t>
                      </a:r>
                      <a:endParaRPr lang="en-US" sz="1800" dirty="0"/>
                    </a:p>
                  </a:txBody>
                  <a:tcPr marL="91440" marR="9144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Карточка квант"/>
          <p:cNvSpPr/>
          <p:nvPr/>
        </p:nvSpPr>
        <p:spPr>
          <a:xfrm>
            <a:off x="7863840" y="178308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Текст квант"/>
          <p:cNvSpPr txBox="1"/>
          <p:nvPr/>
        </p:nvSpPr>
        <p:spPr>
          <a:xfrm>
            <a:off x="8183880" y="20574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D9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Квант RR от 1 до 10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q=1: 145 переключений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q=2: 76 переключений, отклик 8,61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q=4: отклик уже 15,78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9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Выбор: квант 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A84E14"/>
                </a:solidFill>
              </a:rPr>
              <a:t>БЛОК C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Голодание, старение и MLFQ</a:t>
            </a:r>
            <a:endParaRPr lang="en-US" sz="3600" dirty="0"/>
          </a:p>
        </p:txBody>
      </p:sp>
      <p:sp>
        <p:nvSpPr>
          <p:cNvPr id="4" name="Карточка C1"/>
          <p:cNvSpPr/>
          <p:nvPr/>
        </p:nvSpPr>
        <p:spPr>
          <a:xfrm>
            <a:off x="640080" y="178308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Подпись C1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starve.txt, старт P1</a:t>
            </a:r>
            <a:endParaRPr lang="en-US" sz="1500" dirty="0"/>
          </a:p>
        </p:txBody>
      </p:sp>
      <p:sp>
        <p:nvSpPr>
          <p:cNvPr id="6" name="Число C1"/>
          <p:cNvSpPr txBox="1"/>
          <p:nvPr/>
        </p:nvSpPr>
        <p:spPr>
          <a:xfrm>
            <a:off x="1005840" y="26060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B8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pPr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6000" b="1" dirty="0">
                <a:solidFill>
                  <a:srgbClr val="3A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6000" dirty="0"/>
          </a:p>
        </p:txBody>
      </p:sp>
      <p:sp>
        <p:nvSpPr>
          <p:cNvPr id="7" name="Текст C1"/>
          <p:cNvSpPr txBox="1"/>
          <p:nvPr/>
        </p:nvSpPr>
        <p:spPr>
          <a:xfrm>
            <a:off x="1005840" y="4023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старения P1 ждёт 57. Со старением (шаг 5) стартует на 21 раньше.</a:t>
            </a:r>
            <a:endParaRPr lang="en-US" sz="1800" dirty="0"/>
          </a:p>
        </p:txBody>
      </p:sp>
      <p:sp>
        <p:nvSpPr>
          <p:cNvPr id="8" name="Карточка C2"/>
          <p:cNvSpPr/>
          <p:nvPr/>
        </p:nvSpPr>
        <p:spPr>
          <a:xfrm>
            <a:off x="6217920" y="178308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Подпись C2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mixed.txt, MLFQ: кванты 2/4/8, boost 50</a:t>
            </a:r>
            <a:endParaRPr lang="en-US" sz="1500" dirty="0"/>
          </a:p>
        </p:txBody>
      </p:sp>
      <p:sp>
        <p:nvSpPr>
          <p:cNvPr id="10" name="Число C2"/>
          <p:cNvSpPr txBox="1"/>
          <p:nvPr/>
        </p:nvSpPr>
        <p:spPr>
          <a:xfrm>
            <a:off x="6583680" y="26060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3A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0,28</a:t>
            </a:r>
            <a:pPr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отклик</a:t>
            </a:r>
            <a:endParaRPr lang="en-US" sz="6000" dirty="0"/>
          </a:p>
        </p:txBody>
      </p:sp>
      <p:sp>
        <p:nvSpPr>
          <p:cNvPr id="11" name="Текст C2"/>
          <p:cNvSpPr txBox="1"/>
          <p:nvPr/>
        </p:nvSpPr>
        <p:spPr>
          <a:xfrm>
            <a:off x="6583680" y="4023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Короткие ждут 5,27, в 3 раза меньше, чем в RR. Знать длительность не нужно.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D9773A"/>
                </a:solidFill>
              </a:rPr>
              <a:t>РЕКОМЕНДАЦИЯ ЗАКАЗЧИКУ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18872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F2EC"/>
                </a:solidFill>
              </a:rPr>
              <a:t>MLFQ: 3 уровня, кванты 2/4/8, boost 50</a:t>
            </a:r>
            <a:endParaRPr lang="en-US" sz="4800" dirty="0"/>
          </a:p>
        </p:txBody>
      </p:sp>
      <p:sp>
        <p:nvSpPr>
          <p:cNvPr id="4" name="Итог текст"/>
          <p:cNvSpPr txBox="1"/>
          <p:nvPr/>
        </p:nvSpPr>
        <p:spPr>
          <a:xfrm>
            <a:off x="731520" y="338328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работает без знания длительности: новый процесс сначала наверху. Короткий успевает закончить, длинный тратит квант и опускается вниз.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не даёт длинным голодать. Простой вариант: RR с квантом 2.</a:t>
            </a:r>
            <a:endParaRPr lang="en-US" sz="2000" dirty="0"/>
          </a:p>
        </p:txBody>
      </p:sp>
      <p:sp>
        <p:nvSpPr>
          <p:cNvPr id="5" name="Карточка запуск"/>
          <p:cNvSpPr/>
          <p:nvPr/>
        </p:nvSpPr>
        <p:spPr>
          <a:xfrm>
            <a:off x="7680960" y="3383280"/>
            <a:ext cx="3749040" cy="1554480"/>
          </a:xfrm>
          <a:prstGeom prst="roundRect">
            <a:avLst>
              <a:gd name="adj" fmla="val 8824"/>
            </a:avLst>
          </a:prstGeom>
          <a:solidFill>
            <a:srgbClr val="0F1620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6" name="Команда"/>
          <p:cNvSpPr txBox="1"/>
          <p:nvPr/>
        </p:nvSpPr>
        <p:spPr>
          <a:xfrm>
            <a:off x="8001000" y="3657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одной командой: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97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20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./modul1/run.sh</a:t>
            </a:r>
            <a:endParaRPr lang="en-US" sz="2000" dirty="0"/>
          </a:p>
        </p:txBody>
      </p:sp>
      <p:sp>
        <p:nvSpPr>
          <p:cNvPr id="7" name="Спасибо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eduler">
  <a:themeElements>
    <a:clrScheme name="Scheduler">
      <a:dk1>
        <a:srgbClr val="1B2430"/>
      </a:dk1>
      <a:lt1>
        <a:srgbClr val="FFFFFF"/>
      </a:lt1>
      <a:dk2>
        <a:srgbClr val="4A5568"/>
      </a:dk2>
      <a:lt2>
        <a:srgbClr val="F3F4F6"/>
      </a:lt2>
      <a:accent1>
        <a:srgbClr val="3A6EA5"/>
      </a:accent1>
      <a:accent2>
        <a:srgbClr val="D9773A"/>
      </a:accent2>
      <a:accent3>
        <a:srgbClr val="B84A5A"/>
      </a:accent3>
      <a:accent4>
        <a:srgbClr val="3F8C84"/>
      </a:accent4>
      <a:accent5>
        <a:srgbClr val="5E8B3A"/>
      </a:accent5>
      <a:accent6>
        <a:srgbClr val="8A6BA8"/>
      </a:accent6>
      <a:hlink>
        <a:srgbClr val="3A6EA5"/>
      </a:hlink>
      <a:folHlink>
        <a:srgbClr val="8A6BA8"/>
      </a:folHlink>
    </a:clrScheme>
    <a:fontScheme name="Schedul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Планировщик учебного сервера</dc:title>
  <dc:subject>PptxGenJS Presentation</dc:subject>
  <dc:creator>Эркинбеков Айман</dc:creator>
  <cp:lastModifiedBy>Эркинбеков Айман</cp:lastModifiedBy>
  <cp:revision>1</cp:revision>
  <dcterms:created xsi:type="dcterms:W3CDTF">2026-10-29T06:46:23Z</dcterms:created>
  <dcterms:modified xsi:type="dcterms:W3CDTF">2026-10-29T06:46:23Z</dcterms:modified>
</cp:coreProperties>
</file>